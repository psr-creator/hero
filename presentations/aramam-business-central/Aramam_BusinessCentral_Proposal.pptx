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ambition, not the software. Aramam is scaling — a cloud kitchen is coming — and the operating system underneath has to change before the volume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Establish credibility, then move to their business. Insert real figures (years in the UAE, team size, number of implementations)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back to them as their story, not as criticism. If they correct a step, that is a good sign — they are engaged.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slide. Land the point that the problem is not today's pain — it is what today's pain becomes at twice the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push on POS integration feasibility, move straight to the architecture slide. Confirm the POS product and whether it exposes an API or scheduled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them: we are not asking them to replace the POS. Integration is scoped in discovery once we confirm the POS product and its export or API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quote a specific mandate date unless you have verified Aramam's revenue band and the current MoF phase schedule. Keep it as a readiness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quote per-user pricing from memory — confirm current Microsoft UAE list pricing before the meeting, or defer to the commercial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the walkthrough, not for the decision. It is a small yes that puts you inside the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41F"/>
          </a:solidFill>
          <a:ln w="12700">
            <a:solidFill>
              <a:srgbClr val="6E6157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18">
              <a:alpha val="5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572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312A24"/>
          </a:solidFill>
          <a:ln w="12700">
            <a:solidFill>
              <a:srgbClr val="6E6157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457200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LOGO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795967" y="4572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312A24"/>
          </a:solidFill>
          <a:ln w="12700">
            <a:solidFill>
              <a:srgbClr val="6E6157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869119" y="457200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ARAMAM LOGO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871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3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·  DIGITAL TRANSFORMATION OF OPERATIONS &amp; FINANCE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816352"/>
            <a:ext cx="8778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whole group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one system.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49884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Dynamics 365 Business Central for Aramam — outlet inventory and procurement, recipe-driven consumption from POS, and a finance function that closes on 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440680"/>
            <a:ext cx="2926080" cy="0"/>
          </a:xfrm>
          <a:prstGeom prst="line">
            <a:avLst/>
          </a:prstGeom>
          <a:noFill/>
          <a:ln w="28575">
            <a:solidFill>
              <a:srgbClr val="C15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559612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Aramam Restaurants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Gerab System Solutions  ·  September 2026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04127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8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Full-bleed background image placeholder — right-click this rectangle → Format Shape → Picture fill, then delete this note.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thirty minutes, then discussion. Stop us wherever it is useful.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93392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99339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90288" y="1993392"/>
            <a:ext cx="7034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— what we do and who we do it for.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670048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67004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Aramam is today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670048"/>
            <a:ext cx="7034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operating and finance setup, and what it costs.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91840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46704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3467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Business Central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346704"/>
            <a:ext cx="7034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platform, and why it fits a growing restaurant group.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023360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0233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focus areas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4023360"/>
            <a:ext cx="7034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procurement · Recipe &amp; consumption · Finance &amp; MIS.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45152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4700016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70001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scale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4700016"/>
            <a:ext cx="7034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VAT, e-invoicing readiness, and the cloud kitchen.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321808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5376672"/>
            <a:ext cx="658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766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5376672"/>
            <a:ext cx="7034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responsibilities and next steps.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Gerab System Solutions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5989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 UAE-based enterprise technology company. We design, implement and support the business systems that groups like yours run on — ERP, Microsoft 365 and SharePoint, Power Platform and business intelligence, infrastructure and cloud, and the managed support that keeps all of it running afterwards.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 Microsoft partner with delivery experience across construction, trading, manufacturing and services businesses in the UAE — the same operating realities as a multi-outlet restaurant group: many locations, tight margins, and a finance team that needs the numbers early.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903720" y="1371600"/>
            <a:ext cx="4718304" cy="3063240"/>
          </a:xfrm>
          <a:prstGeom prst="roundRect">
            <a:avLst>
              <a:gd name="adj" fmla="val 1791"/>
            </a:avLst>
          </a:prstGeom>
          <a:solidFill>
            <a:srgbClr val="EFEBE5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068312" y="24917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PLACEHOLDER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office / delivery team  ·  landscape 3:2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4626864"/>
            <a:ext cx="2517572" cy="1426464"/>
          </a:xfrm>
          <a:prstGeom prst="roundRect">
            <a:avLst>
              <a:gd name="adj" fmla="val 5128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4754880"/>
            <a:ext cx="2078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partner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5248656"/>
            <a:ext cx="20786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365, Microsoft 365 and Azure.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3684" y="4626864"/>
            <a:ext cx="2517572" cy="1426464"/>
          </a:xfrm>
          <a:prstGeom prst="roundRect">
            <a:avLst>
              <a:gd name="adj" fmla="val 5128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3140" y="4754880"/>
            <a:ext cx="2078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accountable partner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33140" y="5248656"/>
            <a:ext cx="20786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implementation and support in one contract.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0440" y="4626864"/>
            <a:ext cx="2517572" cy="1426464"/>
          </a:xfrm>
          <a:prstGeom prst="roundRect">
            <a:avLst>
              <a:gd name="adj" fmla="val 5128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9896" y="4754880"/>
            <a:ext cx="2078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UAE-based delivery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79896" y="5248656"/>
            <a:ext cx="20786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consultants, local hours, on-site when it matters.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195" y="4626864"/>
            <a:ext cx="2517572" cy="1426464"/>
          </a:xfrm>
          <a:prstGeom prst="roundRect">
            <a:avLst>
              <a:gd name="adj" fmla="val 5128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651" y="4754880"/>
            <a:ext cx="20786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go-live support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326651" y="5248656"/>
            <a:ext cx="20786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and an AMS desk after hypercare.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PRACTICE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across the stack — so the ERP, the reporting layer and the infrastructure underneath are not three different conversations.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3466490" cy="1874520"/>
          </a:xfrm>
          <a:prstGeom prst="roundRect">
            <a:avLst>
              <a:gd name="adj" fmla="val 390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3230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91" y="2540935"/>
            <a:ext cx="185075" cy="185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35024" y="2395728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— Dynamics 365 Business Central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62656"/>
            <a:ext cx="29544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inventory, purchasing, production and projects on Microsoft's cloud ERP.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2602" y="2212848"/>
            <a:ext cx="3466490" cy="1874520"/>
          </a:xfrm>
          <a:prstGeom prst="roundRect">
            <a:avLst>
              <a:gd name="adj" fmla="val 390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8634" y="243230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265" y="2540935"/>
            <a:ext cx="185075" cy="185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30698" y="2395728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&amp; SharePoint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618634" y="2962656"/>
            <a:ext cx="29544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management, records, intranet and collaboration.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8277" y="2212848"/>
            <a:ext cx="3466490" cy="1874520"/>
          </a:xfrm>
          <a:prstGeom prst="roundRect">
            <a:avLst>
              <a:gd name="adj" fmla="val 390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4309" y="243230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940" y="2540935"/>
            <a:ext cx="185075" cy="185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26373" y="2395728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&amp; BI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414309" y="2962656"/>
            <a:ext cx="29544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dashboards, Power Apps forms and Power Automate workflows.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6928" y="4379976"/>
            <a:ext cx="3466490" cy="1874520"/>
          </a:xfrm>
          <a:prstGeom prst="roundRect">
            <a:avLst>
              <a:gd name="adj" fmla="val 390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599432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91" y="4708063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35024" y="4562856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infrastructure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129784"/>
            <a:ext cx="29544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Azure, networking, servers and backup — designed, migrated and managed.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62602" y="4379976"/>
            <a:ext cx="3466490" cy="1874520"/>
          </a:xfrm>
          <a:prstGeom prst="roundRect">
            <a:avLst>
              <a:gd name="adj" fmla="val 390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18634" y="4599432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265" y="4708063"/>
            <a:ext cx="185075" cy="18507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30698" y="4562856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4618634" y="5129784"/>
            <a:ext cx="29544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access control, endpoint and email security.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8277" y="4379976"/>
            <a:ext cx="3466490" cy="1874520"/>
          </a:xfrm>
          <a:prstGeom prst="roundRect">
            <a:avLst>
              <a:gd name="adj" fmla="val 390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14309" y="4599432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940" y="4708063"/>
            <a:ext cx="185075" cy="18507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26373" y="4562856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&amp; support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8414309" y="5129784"/>
            <a:ext cx="295442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desk, enhancements and version upgrades after go-live.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CLIENTS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in production, across sectors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Portals, document management, workflow and business systems for organisations that cannot afford downtime.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254500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22576"/>
            <a:ext cx="20329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96112" y="2322576"/>
            <a:ext cx="1886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LOGO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62656"/>
            <a:ext cx="2215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World Trade Centre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3474720"/>
            <a:ext cx="2288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VENUES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04540" y="2139696"/>
            <a:ext cx="254500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0572" y="2322576"/>
            <a:ext cx="20329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733724" y="2322576"/>
            <a:ext cx="1886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LOGO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569132" y="2962656"/>
            <a:ext cx="2215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Petrofac — PetroNet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32556" y="3474720"/>
            <a:ext cx="2288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SERVICES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42152" y="2139696"/>
            <a:ext cx="254500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8184" y="2322576"/>
            <a:ext cx="20329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571336" y="2322576"/>
            <a:ext cx="1886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LOGO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962656"/>
            <a:ext cx="2215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3474720"/>
            <a:ext cx="2288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BUSINESS SOLUTIONS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079763" y="2139696"/>
            <a:ext cx="254500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35795" y="2322576"/>
            <a:ext cx="20329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9408947" y="2322576"/>
            <a:ext cx="1886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LOGO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244355" y="2962656"/>
            <a:ext cx="2215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Security Solutions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07779" y="3474720"/>
            <a:ext cx="2288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SERVICES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4206240"/>
            <a:ext cx="254500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4389120"/>
            <a:ext cx="20329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896112" y="4389120"/>
            <a:ext cx="1886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LOGO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029200"/>
            <a:ext cx="2215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" y="5541264"/>
            <a:ext cx="2288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04540" y="4206240"/>
            <a:ext cx="254500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60572" y="4389120"/>
            <a:ext cx="20329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3733724" y="4389120"/>
            <a:ext cx="1886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LOGO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3569132" y="5029200"/>
            <a:ext cx="2215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5541264"/>
            <a:ext cx="2288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GROUP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42152" y="4206240"/>
            <a:ext cx="254500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98184" y="4389120"/>
            <a:ext cx="20329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6571336" y="4389120"/>
            <a:ext cx="1886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LOGO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406744" y="5029200"/>
            <a:ext cx="2215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370168" y="5541264"/>
            <a:ext cx="2288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079763" y="4206240"/>
            <a:ext cx="2545004" cy="1792224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335795" y="4389120"/>
            <a:ext cx="20329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9408947" y="4389120"/>
            <a:ext cx="1886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LOGO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9244355" y="5029200"/>
            <a:ext cx="2215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Group Portal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207779" y="5541264"/>
            <a:ext cx="2288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/ SERVICES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ARAMAM IS TODAY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sale becomes a number today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understand it from our discussions. Correct us where we have it wrong — the detail matters.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1904329" cy="2011680"/>
          </a:xfrm>
          <a:prstGeom prst="roundRect">
            <a:avLst>
              <a:gd name="adj" fmla="val 3841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3061" y="2359152"/>
            <a:ext cx="512064" cy="512064"/>
          </a:xfrm>
          <a:prstGeom prst="ellipse">
            <a:avLst/>
          </a:prstGeom>
          <a:solidFill>
            <a:srgbClr val="F5F2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318" y="2497409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2962656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sell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419856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records the sale at each outlet.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489545" y="24323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855305" y="2139696"/>
            <a:ext cx="1904329" cy="2011680"/>
          </a:xfrm>
          <a:prstGeom prst="roundRect">
            <a:avLst>
              <a:gd name="adj" fmla="val 3841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1438" y="2359152"/>
            <a:ext cx="512064" cy="512064"/>
          </a:xfrm>
          <a:prstGeom prst="ellipse">
            <a:avLst/>
          </a:prstGeom>
          <a:solidFill>
            <a:srgbClr val="F5F2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95" y="2497409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83321" y="2962656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001609" y="3419856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consolidated by hand at month end.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777923" y="24323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143683" y="2139696"/>
            <a:ext cx="1904329" cy="2011680"/>
          </a:xfrm>
          <a:prstGeom prst="roundRect">
            <a:avLst>
              <a:gd name="adj" fmla="val 3841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839816" y="2359152"/>
            <a:ext cx="512064" cy="512064"/>
          </a:xfrm>
          <a:prstGeom prst="ellipse">
            <a:avLst/>
          </a:prstGeom>
          <a:solidFill>
            <a:srgbClr val="F5F2E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073" y="2497409"/>
            <a:ext cx="235549" cy="23554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71699" y="2962656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finance desk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289987" y="3419856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lands with the central finance person.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7066300" y="24323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432060" y="2139696"/>
            <a:ext cx="1904329" cy="2011680"/>
          </a:xfrm>
          <a:prstGeom prst="roundRect">
            <a:avLst>
              <a:gd name="adj" fmla="val 3841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128193" y="2359152"/>
            <a:ext cx="512064" cy="512064"/>
          </a:xfrm>
          <a:prstGeom prst="ellipse">
            <a:avLst/>
          </a:prstGeom>
          <a:solidFill>
            <a:srgbClr val="F5F2E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450" y="2497409"/>
            <a:ext cx="235549" cy="23554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560076" y="2962656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Re-keyed into Tally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578364" y="3419856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 entered manually, entry by entry.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9354678" y="24323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9720438" y="2139696"/>
            <a:ext cx="1904329" cy="2011680"/>
          </a:xfrm>
          <a:prstGeom prst="roundRect">
            <a:avLst>
              <a:gd name="adj" fmla="val 3841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416570" y="2359152"/>
            <a:ext cx="512064" cy="512064"/>
          </a:xfrm>
          <a:prstGeom prst="ellipse">
            <a:avLst/>
          </a:prstGeom>
          <a:solidFill>
            <a:srgbClr val="F5F2EE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4828" y="2497409"/>
            <a:ext cx="235549" cy="23554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848454" y="2962656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eventually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9866742" y="3419856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assembled in Excel, weeks after the fact.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66928" y="4443984"/>
            <a:ext cx="11057839" cy="1572768"/>
          </a:xfrm>
          <a:prstGeom prst="roundRect">
            <a:avLst>
              <a:gd name="adj" fmla="val 4651"/>
            </a:avLst>
          </a:prstGeom>
          <a:solidFill>
            <a:srgbClr val="F3E3DA"/>
          </a:solidFill>
          <a:ln w="9525">
            <a:solidFill>
              <a:srgbClr val="E8D3C6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77824" y="45902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off the system entirely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877824" y="495604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Purchases, GRNs and supplier prices tracked on spreadsheets and messages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Outlet-to-outlet transfers agreed informally, rarely recorded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327648" y="49560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and portion costs held in people's heads, not in a system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arrived at by count and estimate, not by movement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B0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this setup cannot do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people problems. They are what happens when a group's operations run on manual consolidation and a desktop ledger.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66490" cy="1901952"/>
          </a:xfrm>
          <a:prstGeom prst="roundRect">
            <a:avLst>
              <a:gd name="adj" fmla="val 3846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05456"/>
            <a:ext cx="402336" cy="402336"/>
          </a:xfrm>
          <a:prstGeom prst="ellipse">
            <a:avLst/>
          </a:prstGeom>
          <a:solidFill>
            <a:srgbClr val="F6E4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91" y="2614087"/>
            <a:ext cx="185075" cy="185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35024" y="2468880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out a month late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35808"/>
            <a:ext cx="295442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reach finance as a monthly summary. By the time a problem is visible in the books, the month that caused it is already closed.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2602" y="2286000"/>
            <a:ext cx="3466490" cy="1901952"/>
          </a:xfrm>
          <a:prstGeom prst="roundRect">
            <a:avLst>
              <a:gd name="adj" fmla="val 3846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8634" y="2505456"/>
            <a:ext cx="402336" cy="402336"/>
          </a:xfrm>
          <a:prstGeom prst="ellipse">
            <a:avLst/>
          </a:prstGeom>
          <a:solidFill>
            <a:srgbClr val="F6E4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265" y="2614087"/>
            <a:ext cx="185075" cy="185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30698" y="2468880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typed twice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618634" y="3035808"/>
            <a:ext cx="295442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re-entry into Tally is slow, error-prone and unauditable — and it rests on one person. That is a single point of failure for the entire group.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8277" y="2286000"/>
            <a:ext cx="3466490" cy="1901952"/>
          </a:xfrm>
          <a:prstGeom prst="roundRect">
            <a:avLst>
              <a:gd name="adj" fmla="val 3846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4309" y="2505456"/>
            <a:ext cx="402336" cy="402336"/>
          </a:xfrm>
          <a:prstGeom prst="ellipse">
            <a:avLst/>
          </a:prstGeom>
          <a:solidFill>
            <a:srgbClr val="F6E4E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940" y="2614087"/>
            <a:ext cx="185075" cy="185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26373" y="2468880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visibility stops at the outlet door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414309" y="3035808"/>
            <a:ext cx="295442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live group-wide stock position, no controlled transfer between outlets, and no reliable answer to "what do we actually hold right now?"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6928" y="4462272"/>
            <a:ext cx="3466490" cy="1901952"/>
          </a:xfrm>
          <a:prstGeom prst="roundRect">
            <a:avLst>
              <a:gd name="adj" fmla="val 3846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681728"/>
            <a:ext cx="402336" cy="402336"/>
          </a:xfrm>
          <a:prstGeom prst="ellipse">
            <a:avLst/>
          </a:prstGeom>
          <a:solidFill>
            <a:srgbClr val="F6E4E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91" y="4790359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35024" y="4645152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without control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212080"/>
            <a:ext cx="295442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requisition-to-PO-to-GRN discipline, no approved supplier price lists, no price history — so purchase price creep goes unnoticed.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62602" y="4462272"/>
            <a:ext cx="3466490" cy="1901952"/>
          </a:xfrm>
          <a:prstGeom prst="roundRect">
            <a:avLst>
              <a:gd name="adj" fmla="val 3846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18634" y="4681728"/>
            <a:ext cx="402336" cy="402336"/>
          </a:xfrm>
          <a:prstGeom prst="ellipse">
            <a:avLst/>
          </a:prstGeom>
          <a:solidFill>
            <a:srgbClr val="F6E4E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265" y="4790359"/>
            <a:ext cx="185075" cy="18507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30698" y="4645152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 is estimated, not measured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4618634" y="5212080"/>
            <a:ext cx="295442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recipes linked to POS sales, theoretical consumption cannot be calculated — so wastage, over-portioning and pilferage stay invisible.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8277" y="4462272"/>
            <a:ext cx="3466490" cy="1901952"/>
          </a:xfrm>
          <a:prstGeom prst="roundRect">
            <a:avLst>
              <a:gd name="adj" fmla="val 3846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14309" y="4681728"/>
            <a:ext cx="402336" cy="402336"/>
          </a:xfrm>
          <a:prstGeom prst="ellipse">
            <a:avLst/>
          </a:prstGeom>
          <a:solidFill>
            <a:srgbClr val="F6E4E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940" y="4790359"/>
            <a:ext cx="185075" cy="18507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26373" y="4645152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is a monthly craft project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8414309" y="5212080"/>
            <a:ext cx="295442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is rebuilt by hand in Excel each month. Outlet-wise profitability, on demand, is not currently possible.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D3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STANDING STILL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this is the base you are about to scale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kitchen adds a production location, new SKUs, new transfer routes and new delivery-channel revenue — on top of a process that is already manual.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2517572" cy="1737360"/>
          </a:xfrm>
          <a:prstGeom prst="roundRect">
            <a:avLst>
              <a:gd name="adj" fmla="val 4211"/>
            </a:avLst>
          </a:prstGeom>
          <a:solidFill>
            <a:srgbClr val="2B2621"/>
          </a:solidFill>
          <a:ln w="9525">
            <a:solidFill>
              <a:srgbClr val="463E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560320"/>
            <a:ext cx="21152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3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days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3255264"/>
            <a:ext cx="21152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 sale happening and a reviewed, posted number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3684" y="2395728"/>
            <a:ext cx="2517572" cy="1737360"/>
          </a:xfrm>
          <a:prstGeom prst="roundRect">
            <a:avLst>
              <a:gd name="adj" fmla="val 4211"/>
            </a:avLst>
          </a:prstGeom>
          <a:solidFill>
            <a:srgbClr val="2B2621"/>
          </a:solidFill>
          <a:ln w="9525">
            <a:solidFill>
              <a:srgbClr val="463E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4852" y="2560320"/>
            <a:ext cx="21152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3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person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14852" y="3255264"/>
            <a:ext cx="21152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the group's ledger — a single point of failure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0440" y="2395728"/>
            <a:ext cx="2517572" cy="1737360"/>
          </a:xfrm>
          <a:prstGeom prst="roundRect">
            <a:avLst>
              <a:gd name="adj" fmla="val 4211"/>
            </a:avLst>
          </a:prstGeom>
          <a:solidFill>
            <a:srgbClr val="2B2621"/>
          </a:solidFill>
          <a:ln w="9525">
            <a:solidFill>
              <a:srgbClr val="463E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1608" y="2560320"/>
            <a:ext cx="21152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3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55264"/>
            <a:ext cx="21152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system-held stock positions across outlets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07195" y="2395728"/>
            <a:ext cx="2517572" cy="1737360"/>
          </a:xfrm>
          <a:prstGeom prst="roundRect">
            <a:avLst>
              <a:gd name="adj" fmla="val 4211"/>
            </a:avLst>
          </a:prstGeom>
          <a:solidFill>
            <a:srgbClr val="2B2621"/>
          </a:solidFill>
          <a:ln w="9525">
            <a:solidFill>
              <a:srgbClr val="463E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08363" y="2560320"/>
            <a:ext cx="21152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Unmeasured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308363" y="3255264"/>
            <a:ext cx="21152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 variance — no theoretical vs actual to compare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370832"/>
            <a:ext cx="3466490" cy="1755648"/>
          </a:xfrm>
          <a:prstGeom prst="roundRect">
            <a:avLst>
              <a:gd name="adj" fmla="val 4167"/>
            </a:avLst>
          </a:prstGeom>
          <a:solidFill>
            <a:srgbClr val="241F1B"/>
          </a:solidFill>
          <a:ln w="9525">
            <a:solidFill>
              <a:srgbClr val="463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590288"/>
            <a:ext cx="402336" cy="402336"/>
          </a:xfrm>
          <a:prstGeom prst="ellipse">
            <a:avLst/>
          </a:prstGeom>
          <a:solidFill>
            <a:srgbClr val="3A322B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91" y="4698919"/>
            <a:ext cx="185075" cy="18507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335024" y="4553712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tightening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12064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UAE is moving to mandatory e-invoicing. Manual ledgers and offline entry are the wrong starting point for that transition.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62602" y="4370832"/>
            <a:ext cx="3466490" cy="1755648"/>
          </a:xfrm>
          <a:prstGeom prst="roundRect">
            <a:avLst>
              <a:gd name="adj" fmla="val 4167"/>
            </a:avLst>
          </a:prstGeom>
          <a:solidFill>
            <a:srgbClr val="241F1B"/>
          </a:solidFill>
          <a:ln w="9525">
            <a:solidFill>
              <a:srgbClr val="463E3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8634" y="4590288"/>
            <a:ext cx="402336" cy="402336"/>
          </a:xfrm>
          <a:prstGeom prst="ellipse">
            <a:avLst/>
          </a:prstGeom>
          <a:solidFill>
            <a:srgbClr val="3A322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265" y="4698919"/>
            <a:ext cx="185075" cy="18507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130698" y="4553712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about to jump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4618634" y="512064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location, new channels, more transactions — the manual month-end does not scale linearly, it breaks.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158277" y="4370832"/>
            <a:ext cx="3466490" cy="1755648"/>
          </a:xfrm>
          <a:prstGeom prst="roundRect">
            <a:avLst>
              <a:gd name="adj" fmla="val 4167"/>
            </a:avLst>
          </a:prstGeom>
          <a:solidFill>
            <a:srgbClr val="241F1B"/>
          </a:solidFill>
          <a:ln w="9525">
            <a:solidFill>
              <a:srgbClr val="463E3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414309" y="4590288"/>
            <a:ext cx="402336" cy="402336"/>
          </a:xfrm>
          <a:prstGeom prst="ellipse">
            <a:avLst/>
          </a:prstGeom>
          <a:solidFill>
            <a:srgbClr val="3A322B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940" y="4698919"/>
            <a:ext cx="185075" cy="18507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926373" y="4553712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run on stale data</a:t>
            </a:r>
            <a:endParaRPr lang="en-US" sz="1250" dirty="0"/>
          </a:p>
        </p:txBody>
      </p:sp>
      <p:sp>
        <p:nvSpPr>
          <p:cNvPr id="31" name="Text 26"/>
          <p:cNvSpPr txBox="1"/>
          <p:nvPr/>
        </p:nvSpPr>
        <p:spPr>
          <a:xfrm>
            <a:off x="8414309" y="512064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pricing and supplier decisions are being made on numbers that are already a month old.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413A33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business, running on evidence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aspirational software talk — each row is a specific change in how a day at Aramam works.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3447288" y="2121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B0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04888" y="2121408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BUSINESS CENTRAL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2450592"/>
            <a:ext cx="11313871" cy="585216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reach finance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487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as a typed summary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104888" y="2487168"/>
            <a:ext cx="4519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posted automatically from POS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108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position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Counted, estimated, argued about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104888" y="3108960"/>
            <a:ext cx="4519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by outlet, by item, by batch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694176"/>
            <a:ext cx="11313871" cy="585216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37307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37307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orders, prices unverified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04888" y="3730752"/>
            <a:ext cx="4519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 → approval → PO → GRN → invoice match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35254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between outlets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47288" y="43525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Informal, largely unrecorded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04888" y="4352544"/>
            <a:ext cx="4519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orders with in-transit visibility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8912" y="4937760"/>
            <a:ext cx="11313871" cy="585216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" y="49743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49743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arrived at after the fact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04888" y="4974336"/>
            <a:ext cx="4519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Recipe-driven theoretical vs actual, per dish, per outlet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5961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reporting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5596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in Excel each month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04888" y="5596128"/>
            <a:ext cx="45198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dashboards, refreshed daily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8778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Dynamics 365 Business Central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ERP covering finance, inventory, purchasing and production — not four disconnected tools stitched together with spreadsheets.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3466490" cy="1810512"/>
          </a:xfrm>
          <a:prstGeom prst="roundRect">
            <a:avLst>
              <a:gd name="adj" fmla="val 404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1518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91" y="2723815"/>
            <a:ext cx="185075" cy="185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35024" y="2578608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not four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45536"/>
            <a:ext cx="295442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stock, purchasing and recipe costing share the same data. Post once, see it everywhere.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2602" y="2395728"/>
            <a:ext cx="3466490" cy="1810512"/>
          </a:xfrm>
          <a:prstGeom prst="roundRect">
            <a:avLst>
              <a:gd name="adj" fmla="val 404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8634" y="261518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265" y="2723815"/>
            <a:ext cx="185075" cy="185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30698" y="2578608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from Microsoft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618634" y="3145536"/>
            <a:ext cx="295442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buy or patch. Updated twice a year, backed by Microsoft's SLA and security.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8277" y="2395728"/>
            <a:ext cx="3466490" cy="1810512"/>
          </a:xfrm>
          <a:prstGeom prst="roundRect">
            <a:avLst>
              <a:gd name="adj" fmla="val 404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4309" y="261518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940" y="2723815"/>
            <a:ext cx="185075" cy="185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26373" y="2578608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already knows it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414309" y="3145536"/>
            <a:ext cx="295442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Excel, Outlook and Teams integration. Finance can still work in Excel — on live data.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6928" y="4480560"/>
            <a:ext cx="3466490" cy="1810512"/>
          </a:xfrm>
          <a:prstGeom prst="roundRect">
            <a:avLst>
              <a:gd name="adj" fmla="val 404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700016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91" y="4808647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35024" y="4663440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many locations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230368"/>
            <a:ext cx="295442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Locations, dimensions and inter-company are standard, not bolted on. Adding an outlet is configuration.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62602" y="4480560"/>
            <a:ext cx="3466490" cy="1810512"/>
          </a:xfrm>
          <a:prstGeom prst="roundRect">
            <a:avLst>
              <a:gd name="adj" fmla="val 404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18634" y="4700016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265" y="4808647"/>
            <a:ext cx="185075" cy="18507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30698" y="4663440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included in the story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4618634" y="5230368"/>
            <a:ext cx="295442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centres in the app, and full Power BI dashboards for management and owners.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8277" y="4480560"/>
            <a:ext cx="3466490" cy="1810512"/>
          </a:xfrm>
          <a:prstGeom prst="roundRect">
            <a:avLst>
              <a:gd name="adj" fmla="val 404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14309" y="4700016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940" y="4808647"/>
            <a:ext cx="185075" cy="18507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26373" y="4663440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UAE-ready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8414309" y="5230368"/>
            <a:ext cx="295442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handling, audit trail and a clear path to the UAE e-invoicing mandate through accredited providers.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9521647" y="658368"/>
            <a:ext cx="21031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36" name="Text 28"/>
          <p:cNvSpPr txBox="1"/>
          <p:nvPr/>
        </p:nvSpPr>
        <p:spPr>
          <a:xfrm>
            <a:off x="9594799" y="658368"/>
            <a:ext cx="1956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D365 LOGO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focus areas, one foundation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three areas you asked us to solve. They are not three projects — they are three views of the same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344210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432304"/>
            <a:ext cx="566928" cy="566928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07" y="2585375"/>
            <a:ext cx="260787" cy="2607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167786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BE5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072384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procurement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639312"/>
            <a:ext cx="285689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store, outlet and cloud-kitchen locations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 → PO → GRN → invoice matching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Outlet-to-outlet transfer orders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batch and expiry, reorder points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4794" y="2121408"/>
            <a:ext cx="344210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7402" y="2432304"/>
            <a:ext cx="566928" cy="566928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473" y="2585375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75653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BE5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667402" y="3072384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&amp; consumption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4667402" y="3639312"/>
            <a:ext cx="285689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cards with yield and portion cost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sales mapped to recipes automatically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consumption posted per outlet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vs actual variance and wastage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82661" y="2121408"/>
            <a:ext cx="344210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75269" y="2432304"/>
            <a:ext cx="566928" cy="566928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339" y="2585375"/>
            <a:ext cx="260787" cy="26078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783519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BE5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8475269" y="3072384"/>
            <a:ext cx="28568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Finance, dashboards &amp; MIS</a:t>
            </a:r>
            <a:endParaRPr lang="en-US" sz="1650" dirty="0"/>
          </a:p>
        </p:txBody>
      </p:sp>
      <p:sp>
        <p:nvSpPr>
          <p:cNvPr id="22" name="Text 17"/>
          <p:cNvSpPr txBox="1"/>
          <p:nvPr/>
        </p:nvSpPr>
        <p:spPr>
          <a:xfrm>
            <a:off x="8475269" y="3639312"/>
            <a:ext cx="285689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posting from sales and purchases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Outlet-wise P&amp;L through dimensions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VAT, AP/AR, banking, fixed assets, budgets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dashboards and the monthly MIS pack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66928" y="548640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1E1B1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77824" y="5486400"/>
            <a:ext cx="104360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foundation:  </a:t>
            </a:r>
            <a:pPr indent="0" marL="0">
              <a:buNone/>
            </a:pPr>
            <a:r>
              <a:rPr lang="en-US" sz="12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of accounts · dimensions for Outlet, Brand and Cost centre · one item master · approval workflows · user roles and permissions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1 OF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and procurement across every outlet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item master, one stock ledger, and every movement recorded as a transaction — receipts, issues, transfers, wastage and counts.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57984"/>
            <a:ext cx="5806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master with real units.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in kg, box or crate; consume in grams or portions. Conversions handled once, centrally.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per outlet.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store, each outlet and the cloud kitchen are separate locations with their own stock and their own reorder rules.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Procure-to-pay with control.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requisition → approval → purchase order → goods receipt → three-way invoice match. Nothing is paid that was not received.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price lists and history.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prices per vendor, with variance flagged when an invoice does not match the order.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orders between outlets.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Requested, approved, shipped and received — with in-transit stock visible, so nothing disappears between two branches.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batch and expiry.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counts and full physical counts on a tablet; batch and expiry tracking for perishables.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points and replenishment. 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and maximum levels per item per location, with suggested purchase and transfer orders.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0" y="2157984"/>
            <a:ext cx="5038344" cy="2331720"/>
          </a:xfrm>
          <a:prstGeom prst="roundRect">
            <a:avLst>
              <a:gd name="adj" fmla="val 2353"/>
            </a:avLst>
          </a:prstGeom>
          <a:solidFill>
            <a:srgbClr val="EFEBE5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748272" y="29123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Central — item availability by location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purchase order list  ·  16:9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462686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STOCK LEDGER, FOUR PLACES IT LIVES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0" y="4956048"/>
            <a:ext cx="1136142" cy="566928"/>
          </a:xfrm>
          <a:prstGeom prst="roundRect">
            <a:avLst>
              <a:gd name="adj" fmla="val 9677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38544" y="4956048"/>
            <a:ext cx="1026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store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664958" y="495604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84414" y="4956048"/>
            <a:ext cx="1136142" cy="566928"/>
          </a:xfrm>
          <a:prstGeom prst="roundRect">
            <a:avLst>
              <a:gd name="adj" fmla="val 9677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39278" y="4956048"/>
            <a:ext cx="1026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965692" y="495604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85148" y="4956048"/>
            <a:ext cx="1136142" cy="566928"/>
          </a:xfrm>
          <a:prstGeom prst="roundRect">
            <a:avLst>
              <a:gd name="adj" fmla="val 9677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0012" y="4956048"/>
            <a:ext cx="1026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B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266426" y="495604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485882" y="4956048"/>
            <a:ext cx="1136142" cy="566928"/>
          </a:xfrm>
          <a:prstGeom prst="roundRect">
            <a:avLst>
              <a:gd name="adj" fmla="val 9677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40746" y="4956048"/>
            <a:ext cx="1026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kitchen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596128"/>
            <a:ext cx="5038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orders move stock between locations with approval and in-transit tracking.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2 OF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Recipes, and consumption driven by POS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piece that turns food cost from an opinion into a measurement. Every dish sold consumes its recipe, automatically.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1948221" cy="2212848"/>
          </a:xfrm>
          <a:prstGeom prst="roundRect">
            <a:avLst>
              <a:gd name="adj" fmla="val 3755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32304"/>
            <a:ext cx="493776" cy="49377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992" y="2565624"/>
            <a:ext cx="227137" cy="2271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2980944"/>
            <a:ext cx="14727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Dish sold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438144"/>
            <a:ext cx="147273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records 12 × Chicken Mandi at Outlet A.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524293" y="250545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844333" y="2194560"/>
            <a:ext cx="1948221" cy="2212848"/>
          </a:xfrm>
          <a:prstGeom prst="roundRect">
            <a:avLst>
              <a:gd name="adj" fmla="val 3755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82077" y="2432304"/>
            <a:ext cx="493776" cy="49377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396" y="2565624"/>
            <a:ext cx="227137" cy="22713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82077" y="2980944"/>
            <a:ext cx="14727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Recipe applied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082077" y="3438144"/>
            <a:ext cx="147273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dish is mapped to a recipe with exact quantities and yield.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801697" y="250545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121737" y="2194560"/>
            <a:ext cx="1948221" cy="2212848"/>
          </a:xfrm>
          <a:prstGeom prst="roundRect">
            <a:avLst>
              <a:gd name="adj" fmla="val 3755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59481" y="2432304"/>
            <a:ext cx="493776" cy="49377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801" y="2565624"/>
            <a:ext cx="227137" cy="22713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59481" y="2980944"/>
            <a:ext cx="14727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Consumption calculated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359481" y="3438144"/>
            <a:ext cx="147273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raw-material usage is derived — rice, chicken, spice mix.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7079102" y="250545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7399142" y="2194560"/>
            <a:ext cx="1948221" cy="2212848"/>
          </a:xfrm>
          <a:prstGeom prst="roundRect">
            <a:avLst>
              <a:gd name="adj" fmla="val 3755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636886" y="2432304"/>
            <a:ext cx="493776" cy="49377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205" y="2565624"/>
            <a:ext cx="227137" cy="22713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636886" y="2980944"/>
            <a:ext cx="14727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Stock reduced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636886" y="3438144"/>
            <a:ext cx="147273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at that outlet is drawn down automatically. No manual issue notes.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9356507" y="2505456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Shape 23"/>
          <p:cNvSpPr/>
          <p:nvPr/>
        </p:nvSpPr>
        <p:spPr>
          <a:xfrm>
            <a:off x="9676547" y="2194560"/>
            <a:ext cx="1948221" cy="2212848"/>
          </a:xfrm>
          <a:prstGeom prst="roundRect">
            <a:avLst>
              <a:gd name="adj" fmla="val 3755"/>
            </a:avLst>
          </a:prstGeom>
          <a:solidFill>
            <a:srgbClr val="E2ECEA"/>
          </a:solidFill>
          <a:ln w="9525">
            <a:solidFill>
              <a:srgbClr val="CBDCD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914291" y="2432304"/>
            <a:ext cx="493776" cy="493776"/>
          </a:xfrm>
          <a:prstGeom prst="ellipse">
            <a:avLst/>
          </a:prstGeom>
          <a:solidFill>
            <a:srgbClr val="D2E2DE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610" y="2565624"/>
            <a:ext cx="227137" cy="227137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914291" y="2980944"/>
            <a:ext cx="14727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Variance exposed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9914291" y="3438144"/>
            <a:ext cx="147273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vs counted actual shows exactly where wastage or loss sits.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66928" y="4590288"/>
            <a:ext cx="3466490" cy="1536192"/>
          </a:xfrm>
          <a:prstGeom prst="roundRect">
            <a:avLst>
              <a:gd name="adj" fmla="val 476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2960" y="480974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91" y="4918375"/>
            <a:ext cx="185075" cy="18507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335024" y="4773168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Sub-recipes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822960" y="5340096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Sauces, marinades and bases are recipes in their own right, reused across dishes and costed once.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4362602" y="4590288"/>
            <a:ext cx="3466490" cy="1536192"/>
          </a:xfrm>
          <a:prstGeom prst="roundRect">
            <a:avLst>
              <a:gd name="adj" fmla="val 476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618634" y="480974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265" y="4918375"/>
            <a:ext cx="185075" cy="18507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130698" y="4773168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dish costing</a:t>
            </a:r>
            <a:endParaRPr lang="en-US" sz="1250" dirty="0"/>
          </a:p>
        </p:txBody>
      </p:sp>
      <p:sp>
        <p:nvSpPr>
          <p:cNvPr id="43" name="Text 34"/>
          <p:cNvSpPr txBox="1"/>
          <p:nvPr/>
        </p:nvSpPr>
        <p:spPr>
          <a:xfrm>
            <a:off x="4618634" y="5340096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supplier price changes, every recipe using that item is re-costed — so menu margin is always current.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8158277" y="4590288"/>
            <a:ext cx="3466490" cy="1536192"/>
          </a:xfrm>
          <a:prstGeom prst="roundRect">
            <a:avLst>
              <a:gd name="adj" fmla="val 476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8414309" y="480974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940" y="4918375"/>
            <a:ext cx="185075" cy="18507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926373" y="4773168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 &amp; staff meals</a:t>
            </a:r>
            <a:endParaRPr lang="en-US" sz="1250" dirty="0"/>
          </a:p>
        </p:txBody>
      </p:sp>
      <p:sp>
        <p:nvSpPr>
          <p:cNvPr id="48" name="Text 38"/>
          <p:cNvSpPr txBox="1"/>
          <p:nvPr/>
        </p:nvSpPr>
        <p:spPr>
          <a:xfrm>
            <a:off x="8414309" y="5340096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as their own transactions, so they are visible and controllable rather than hidden in variance.</a:t>
            </a:r>
            <a:endParaRPr lang="en-US" sz="1100" dirty="0"/>
          </a:p>
        </p:txBody>
      </p:sp>
      <p:sp>
        <p:nvSpPr>
          <p:cNvPr id="49" name="Shape 39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3 OF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that closes, MIS that arrives early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post themselves from the transactions that created them. Finance moves from data entry to review and analysis.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3969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LEDGER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68880"/>
            <a:ext cx="5577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posting.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from POS and purchase invoices post to the GL without re-keying.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Dimensions, not sub-ledgers.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entry with Outlet, Brand and Cost centre — outlet-wise P&amp;L becomes a filter, not a rebuild.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AP, AR and banking.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ageing, payment runs and bank reconciliation in one place.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and returns.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posting groups configured for UAE VAT, with the return prepared from the ledger.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vs actual.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by outlet and by cost line, compared automatically each period.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assets.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equipment and fit-out tracked with depreciation schedules.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and audit trail.  </a:t>
            </a:r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edits silently — every posted entry traces back to its source document.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2139696"/>
            <a:ext cx="5221224" cy="2084832"/>
          </a:xfrm>
          <a:prstGeom prst="roundRect">
            <a:avLst>
              <a:gd name="adj" fmla="val 2632"/>
            </a:avLst>
          </a:prstGeom>
          <a:solidFill>
            <a:srgbClr val="EFEBE5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565392" y="2770632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management dashboard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Business Central role centre  ·  16:9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315968"/>
            <a:ext cx="5221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MIS PACK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0" y="4626864"/>
            <a:ext cx="2537460" cy="347472"/>
          </a:xfrm>
          <a:prstGeom prst="roundRect">
            <a:avLst>
              <a:gd name="adj" fmla="val 13158"/>
            </a:avLst>
          </a:prstGeom>
          <a:solidFill>
            <a:srgbClr val="F5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7104" y="4626864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flash by outlet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84564" y="4626864"/>
            <a:ext cx="2537460" cy="347472"/>
          </a:xfrm>
          <a:prstGeom prst="roundRect">
            <a:avLst>
              <a:gd name="adj" fmla="val 13158"/>
            </a:avLst>
          </a:prstGeom>
          <a:solidFill>
            <a:srgbClr val="F5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0868" y="4626864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Outlet-wise P&amp;L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5047488"/>
            <a:ext cx="2537460" cy="347472"/>
          </a:xfrm>
          <a:prstGeom prst="roundRect">
            <a:avLst>
              <a:gd name="adj" fmla="val 13158"/>
            </a:avLst>
          </a:prstGeom>
          <a:solidFill>
            <a:srgbClr val="F5F2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47104" y="5047488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 % vs target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84564" y="5047488"/>
            <a:ext cx="2537460" cy="347472"/>
          </a:xfrm>
          <a:prstGeom prst="roundRect">
            <a:avLst>
              <a:gd name="adj" fmla="val 13158"/>
            </a:avLst>
          </a:prstGeom>
          <a:solidFill>
            <a:srgbClr val="F5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0868" y="5047488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margin — top and bottom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5468112"/>
            <a:ext cx="2537460" cy="347472"/>
          </a:xfrm>
          <a:prstGeom prst="roundRect">
            <a:avLst>
              <a:gd name="adj" fmla="val 13158"/>
            </a:avLst>
          </a:prstGeom>
          <a:solidFill>
            <a:srgbClr val="F5F2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47104" y="5468112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 variance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84564" y="5468112"/>
            <a:ext cx="2537460" cy="347472"/>
          </a:xfrm>
          <a:prstGeom prst="roundRect">
            <a:avLst>
              <a:gd name="adj" fmla="val 13158"/>
            </a:avLst>
          </a:prstGeom>
          <a:solidFill>
            <a:srgbClr val="F5F2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30868" y="5468112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ageing and wastage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5888736"/>
            <a:ext cx="2537460" cy="347472"/>
          </a:xfrm>
          <a:prstGeom prst="roundRect">
            <a:avLst>
              <a:gd name="adj" fmla="val 13158"/>
            </a:avLst>
          </a:prstGeom>
          <a:solidFill>
            <a:srgbClr val="F5F2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47104" y="5888736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ageing and cash position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84564" y="5888736"/>
            <a:ext cx="2537460" cy="347472"/>
          </a:xfrm>
          <a:prstGeom prst="roundRect">
            <a:avLst>
              <a:gd name="adj" fmla="val 13158"/>
            </a:avLst>
          </a:prstGeom>
          <a:solidFill>
            <a:srgbClr val="F5F2E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0868" y="5888736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by outlet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architecture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POS stays where it is. Business Central becomes the system of record behind it, and Power BI becomes the window onto both.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1057839" cy="713232"/>
          </a:xfrm>
          <a:prstGeom prst="roundRect">
            <a:avLst>
              <a:gd name="adj" fmla="val 8974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0312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995928" y="2103120"/>
            <a:ext cx="73545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POS terminals (dine-in &amp; takeaway)  ·  delivery aggregators  ·  cloud-kitchen ordering  ·  catering and events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916936"/>
            <a:ext cx="11057839" cy="713232"/>
          </a:xfrm>
          <a:prstGeom prst="roundRect">
            <a:avLst>
              <a:gd name="adj" fmla="val 8974"/>
            </a:avLst>
          </a:prstGeom>
          <a:solidFill>
            <a:srgbClr val="F3E3DA"/>
          </a:solidFill>
          <a:ln w="9525">
            <a:solidFill>
              <a:srgbClr val="E0D2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91693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95928" y="2916936"/>
            <a:ext cx="73545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sales import or API connector  ·  menu-item to recipe mapping  ·  aggregator settlement reconciliation  ·  error and exception log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730752"/>
            <a:ext cx="11057839" cy="713232"/>
          </a:xfrm>
          <a:prstGeom prst="roundRect">
            <a:avLst>
              <a:gd name="adj" fmla="val 8974"/>
            </a:avLst>
          </a:prstGeom>
          <a:solidFill>
            <a:srgbClr val="1E1B18"/>
          </a:solidFill>
          <a:ln/>
          <a:effectLst>
            <a:outerShdw sx="100000" sy="100000" kx="0" ky="0" algn="bl" rotWithShape="0" blurRad="152400" dist="25400" dir="5400000">
              <a:srgbClr val="1E1B18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" y="373075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365 Business Central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95928" y="3730752"/>
            <a:ext cx="73545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GL  ·  Inventory &amp; locations  ·  Purchasing  ·  Assembly / production for recipes  ·  Fixed assets  ·  VAT  ·  Approvals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544568"/>
            <a:ext cx="11057839" cy="713232"/>
          </a:xfrm>
          <a:prstGeom prst="roundRect">
            <a:avLst>
              <a:gd name="adj" fmla="val 8974"/>
            </a:avLst>
          </a:prstGeom>
          <a:solidFill>
            <a:srgbClr val="E2ECEA"/>
          </a:solidFill>
          <a:ln w="9525">
            <a:solidFill>
              <a:srgbClr val="E0D2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54456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995928" y="4544568"/>
            <a:ext cx="73545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management dashboards  ·  Business Central role centres  ·  refreshable Excel reports  ·  scheduled MIS distribution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5358384"/>
            <a:ext cx="11057839" cy="713232"/>
          </a:xfrm>
          <a:prstGeom prst="roundRect">
            <a:avLst>
              <a:gd name="adj" fmla="val 8974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535838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platform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5358384"/>
            <a:ext cx="73545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 hosting  ·  Microsoft Entra ID single sign-on and MFA  ·  encryption in transit and at rest  ·  backup and Microsoft SLA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what the UAE is asking for next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to structured, system-generated invoicing is not a reason to change ERP on its own — but it makes a manual desktop ledger an expensive place to be standing.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251757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1518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91" y="2723815"/>
            <a:ext cx="185075" cy="185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35024" y="2578608"/>
            <a:ext cx="1493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VAT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45536"/>
            <a:ext cx="20055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posting groups, tax invoice formats and the VAT return prepared directly from the ledger rather than reconstructed.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3684" y="2395728"/>
            <a:ext cx="251757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69716" y="261518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347" y="2723815"/>
            <a:ext cx="185075" cy="185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81780" y="2578608"/>
            <a:ext cx="1493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 readiness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669716" y="3145536"/>
            <a:ext cx="20055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Central supports structured electronic invoicing and integrates with accredited service providers for the UAE's phased mandate.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60440" y="2395728"/>
            <a:ext cx="251757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16472" y="261518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102" y="2723815"/>
            <a:ext cx="185075" cy="185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28536" y="2578608"/>
            <a:ext cx="1493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tax ready books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516472" y="3145536"/>
            <a:ext cx="20055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dimension-tagged audit trail and consistent period close — the foundation any corporate tax computation needs.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07195" y="2395728"/>
            <a:ext cx="251757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63227" y="2615184"/>
            <a:ext cx="402336" cy="402336"/>
          </a:xfrm>
          <a:prstGeom prst="ellipse">
            <a:avLst/>
          </a:prstGeom>
          <a:solidFill>
            <a:srgbClr val="F3E3D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858" y="2723815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75291" y="2578608"/>
            <a:ext cx="14934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audit trail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363227" y="3145536"/>
            <a:ext cx="20055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entries cannot be silently edited. Every figure traces to a source document, a user and a timestamp.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66928" y="4882896"/>
            <a:ext cx="11057839" cy="1152144"/>
          </a:xfrm>
          <a:prstGeom prst="roundRect">
            <a:avLst>
              <a:gd name="adj" fmla="val 6349"/>
            </a:avLst>
          </a:prstGeom>
          <a:solidFill>
            <a:srgbClr val="F3E3DA"/>
          </a:solidFill>
          <a:ln w="9525">
            <a:solidFill>
              <a:srgbClr val="E8D3C6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77824" y="4882896"/>
            <a:ext cx="10436047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974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saying plainly: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 obligations in the UAE are being introduced in phases, and the applicable date depends on the entity. We will confirm Aramam's position with you in discovery — but a system that produces structured invoices natively is a far easier place to comply from than manual entry into a desktop ledger.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WHAT IS COMING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cloud kitchen, from day one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time to put a system in is after the new site opens. Doing it now means the cloud kitchen launches onto a platform that already works.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40864"/>
            <a:ext cx="3466490" cy="1828800"/>
          </a:xfrm>
          <a:prstGeom prst="roundRect">
            <a:avLst>
              <a:gd name="adj" fmla="val 400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402336" cy="402336"/>
          </a:xfrm>
          <a:prstGeom prst="ellipse">
            <a:avLst/>
          </a:prstGeom>
          <a:solidFill>
            <a:srgbClr val="E2EC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91" y="2668951"/>
            <a:ext cx="185075" cy="185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35024" y="2523744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site is configuration, not a project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90672"/>
            <a:ext cx="2954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location, assign users, inherit the item master and the approval rules. Days, not months.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2602" y="2340864"/>
            <a:ext cx="3466490" cy="1828800"/>
          </a:xfrm>
          <a:prstGeom prst="roundRect">
            <a:avLst>
              <a:gd name="adj" fmla="val 400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8634" y="2560320"/>
            <a:ext cx="402336" cy="402336"/>
          </a:xfrm>
          <a:prstGeom prst="ellipse">
            <a:avLst/>
          </a:prstGeom>
          <a:solidFill>
            <a:srgbClr val="E2EC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265" y="2668951"/>
            <a:ext cx="185075" cy="185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30698" y="2523744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production, distributed outlets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618634" y="3090672"/>
            <a:ext cx="2954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in the cloud kitchen, transfer to outlets on transfer orders, and keep one accurate stock position across both.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8277" y="2340864"/>
            <a:ext cx="3466490" cy="1828800"/>
          </a:xfrm>
          <a:prstGeom prst="roundRect">
            <a:avLst>
              <a:gd name="adj" fmla="val 400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4309" y="2560320"/>
            <a:ext cx="402336" cy="402336"/>
          </a:xfrm>
          <a:prstGeom prst="ellipse">
            <a:avLst/>
          </a:prstGeom>
          <a:solidFill>
            <a:srgbClr val="E2ECE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940" y="2668951"/>
            <a:ext cx="185075" cy="185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26373" y="2523744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 tracked separately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414309" y="3090672"/>
            <a:ext cx="2954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and direct-delivery revenue posted to their own dimensions, with commission and settlement visible.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6928" y="4443984"/>
            <a:ext cx="3466490" cy="1828800"/>
          </a:xfrm>
          <a:prstGeom prst="roundRect">
            <a:avLst>
              <a:gd name="adj" fmla="val 400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663440"/>
            <a:ext cx="402336" cy="402336"/>
          </a:xfrm>
          <a:prstGeom prst="ellipse">
            <a:avLst/>
          </a:prstGeom>
          <a:solidFill>
            <a:srgbClr val="E2ECE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91" y="4772071"/>
            <a:ext cx="185075" cy="18507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35024" y="4626864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Channel-level profitability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193792"/>
            <a:ext cx="2954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a dish actually earns on delivery versus dine-in, once commission and packaging are in the cost.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62602" y="4443984"/>
            <a:ext cx="3466490" cy="1828800"/>
          </a:xfrm>
          <a:prstGeom prst="roundRect">
            <a:avLst>
              <a:gd name="adj" fmla="val 400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18634" y="4663440"/>
            <a:ext cx="402336" cy="402336"/>
          </a:xfrm>
          <a:prstGeom prst="ellipse">
            <a:avLst/>
          </a:prstGeom>
          <a:solidFill>
            <a:srgbClr val="E2ECE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265" y="4772071"/>
            <a:ext cx="185075" cy="18507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30698" y="4626864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follows users, not sites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4618634" y="5193792"/>
            <a:ext cx="2954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another location does not multiply the licence cost — you add the users who need access.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8277" y="4443984"/>
            <a:ext cx="3466490" cy="1828800"/>
          </a:xfrm>
          <a:prstGeom prst="roundRect">
            <a:avLst>
              <a:gd name="adj" fmla="val 400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14309" y="4663440"/>
            <a:ext cx="402336" cy="402336"/>
          </a:xfrm>
          <a:prstGeom prst="ellipse">
            <a:avLst/>
          </a:prstGeom>
          <a:solidFill>
            <a:srgbClr val="E2ECE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940" y="4772071"/>
            <a:ext cx="185075" cy="18507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26373" y="4626864"/>
            <a:ext cx="24423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repeated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8414309" y="5193792"/>
            <a:ext cx="295442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SOPs, approvals and reports built in this project apply to the next site unchanged.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613648" y="566928"/>
            <a:ext cx="3008376" cy="1481328"/>
          </a:xfrm>
          <a:prstGeom prst="roundRect">
            <a:avLst>
              <a:gd name="adj" fmla="val 3704"/>
            </a:avLst>
          </a:prstGeom>
          <a:solidFill>
            <a:srgbClr val="EFEBE5"/>
          </a:solidFill>
          <a:ln w="12700">
            <a:solidFill>
              <a:srgbClr val="B7AFA5"/>
            </a:solidFill>
            <a:prstDash val="dash"/>
          </a:ln>
        </p:spPr>
      </p:sp>
      <p:sp>
        <p:nvSpPr>
          <p:cNvPr id="36" name="Text 28"/>
          <p:cNvSpPr txBox="1"/>
          <p:nvPr/>
        </p:nvSpPr>
        <p:spPr>
          <a:xfrm>
            <a:off x="8778240" y="896112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PLACEHOLDER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kitchen / central production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DELIVERY MODEL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capability + Gerab expertise = your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supplies a world-class platform. What makes it work at Aramam is the configuration, the recipes, the integration and the training around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718408" y="2212848"/>
            <a:ext cx="4754880" cy="1170432"/>
          </a:xfrm>
          <a:prstGeom prst="roundRect">
            <a:avLst>
              <a:gd name="adj" fmla="val 6250"/>
            </a:avLst>
          </a:prstGeom>
          <a:solidFill>
            <a:srgbClr val="C1562B"/>
          </a:solidFill>
          <a:ln/>
          <a:effectLst>
            <a:outerShdw sx="100000" sy="100000" kx="0" ky="0" algn="bl" rotWithShape="0" blurRad="127000" dist="25400" dir="5400000">
              <a:srgbClr val="1E1B18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992728" y="23957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084168" y="27432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 configured to your outlets, your menu, your suppliers and your approval rules.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55368" y="3529584"/>
            <a:ext cx="7680960" cy="1170432"/>
          </a:xfrm>
          <a:prstGeom prst="roundRect">
            <a:avLst>
              <a:gd name="adj" fmla="val 6250"/>
            </a:avLst>
          </a:prstGeom>
          <a:solidFill>
            <a:srgbClr val="1E1B18"/>
          </a:solidFill>
          <a:ln/>
          <a:effectLst>
            <a:outerShdw sx="100000" sy="100000" kx="0" ky="0" algn="bl" rotWithShape="0" blurRad="127000" dist="25400" dir="5400000">
              <a:srgbClr val="1E1B18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29688" y="371246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CONSULTING, CONFIGURATION &amp; INDUSTRY EXPERTISE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21128" y="4059936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design, POS integration, recipe and data migration, training, and support after go-live.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2328" y="4846320"/>
            <a:ext cx="10607040" cy="1170432"/>
          </a:xfrm>
          <a:prstGeom prst="roundRect">
            <a:avLst>
              <a:gd name="adj" fmla="val 6250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6648" y="5029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10" kern="0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CAPABILITY — MICROSOFT DYNAMICS 365 BUSINESS CENTRAL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58088" y="5376672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inventory, purchasing, production, security and reporting — maintained by Microsoft.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indicative implementation roadmap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so the highest-pain areas — stock control and the finance close — come under control first. Durations are confirmed after discovery.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1992112" cy="3438144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432304"/>
            <a:ext cx="420624" cy="420624"/>
          </a:xfrm>
          <a:prstGeom prst="ellipse">
            <a:avLst/>
          </a:prstGeom>
          <a:solidFill>
            <a:srgbClr val="C156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926080"/>
            <a:ext cx="155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blueprint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401568"/>
            <a:ext cx="155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712464"/>
            <a:ext cx="1553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study: outlets, store, finance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 &amp; dimensions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supplier &amp; recipe templates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integration assessment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3360" y="2212848"/>
            <a:ext cx="1992112" cy="3438144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52816" y="2432304"/>
            <a:ext cx="420624" cy="420624"/>
          </a:xfrm>
          <a:prstGeom prst="ellipse">
            <a:avLst/>
          </a:prstGeom>
          <a:solidFill>
            <a:srgbClr val="C156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52816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052816" y="2926080"/>
            <a:ext cx="155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build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52816" y="3401568"/>
            <a:ext cx="155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052816" y="3712464"/>
            <a:ext cx="1553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locations &amp; approvals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Purchasing, transfers &amp; inventory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&amp; production setup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connector &amp; Power BI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99792" y="2212848"/>
            <a:ext cx="1992112" cy="3438144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19248" y="2432304"/>
            <a:ext cx="420624" cy="420624"/>
          </a:xfrm>
          <a:prstGeom prst="ellipse">
            <a:avLst/>
          </a:prstGeom>
          <a:solidFill>
            <a:srgbClr val="1E1B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19248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319248" y="2926080"/>
            <a:ext cx="155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3401568"/>
            <a:ext cx="155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weeks, parallel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712464"/>
            <a:ext cx="1553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supplier &amp; customer masters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balances from Tally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stock by location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sign-off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6224" y="2212848"/>
            <a:ext cx="1992112" cy="3438144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5680" y="2432304"/>
            <a:ext cx="420624" cy="420624"/>
          </a:xfrm>
          <a:prstGeom prst="ellipse">
            <a:avLst/>
          </a:prstGeom>
          <a:solidFill>
            <a:srgbClr val="1E1B1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85680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585680" y="2926080"/>
            <a:ext cx="155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&amp; training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585680" y="3401568"/>
            <a:ext cx="155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585680" y="3712464"/>
            <a:ext cx="1553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testing with your team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outlet, store, finance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documentation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readiness checklist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32655" y="2212848"/>
            <a:ext cx="1992112" cy="3438144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52111" y="2432304"/>
            <a:ext cx="420624" cy="420624"/>
          </a:xfrm>
          <a:prstGeom prst="ellipse">
            <a:avLst/>
          </a:prstGeom>
          <a:solidFill>
            <a:srgbClr val="1E1B1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52111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852111" y="2926080"/>
            <a:ext cx="155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hypercare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852111" y="3401568"/>
            <a:ext cx="155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852111" y="3712464"/>
            <a:ext cx="15532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over a weekend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support in week one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month-end close, supported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the AMS desk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8521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only. The sequence and durations are confirmed in the discovery phase and agreed with you before we commit to a plan.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side brings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 fail on availability, not on software. Being explicit about this now is the cheapest insurance in the project.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31136"/>
            <a:ext cx="53003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231136"/>
            <a:ext cx="5300320" cy="676656"/>
          </a:xfrm>
          <a:prstGeom prst="roundRect">
            <a:avLst>
              <a:gd name="adj" fmla="val 10811"/>
            </a:avLst>
          </a:prstGeom>
          <a:solidFill>
            <a:srgbClr val="F3E3D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2231136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5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Gerab delivers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145536"/>
            <a:ext cx="46785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and system configuration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and aggregator integration build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tooling and load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and costing setup with your chefs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and the MIS pack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training and SOP documentation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cutover, hypercare and ongoing 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2231136"/>
            <a:ext cx="53003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24448" y="2231136"/>
            <a:ext cx="5300320" cy="676656"/>
          </a:xfrm>
          <a:prstGeom prst="roundRect">
            <a:avLst>
              <a:gd name="adj" fmla="val 10811"/>
            </a:avLst>
          </a:prstGeom>
          <a:solidFill>
            <a:srgbClr val="E2EC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35344" y="2231136"/>
            <a:ext cx="4678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Aramam provides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35344" y="3145536"/>
            <a:ext cx="46785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 who can unblock decisions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owner each for operations, store and finance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item, supplier and recipe data in our templates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the POS vendor for the integration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of outlet and store staff for UAT and training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sign-off at each phase gate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on the cutover weekend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Business Central is licensed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users on a monthly subscription, plus a one-time implementation and an annual support agreement. No server hardware, no perpetual licence.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42106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9536" y="2523744"/>
            <a:ext cx="2856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907792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most of the group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291840"/>
            <a:ext cx="28568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GL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locations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and approvals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receivables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and job costing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basics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4794" y="2286000"/>
            <a:ext cx="3442106" cy="2834640"/>
          </a:xfrm>
          <a:prstGeom prst="roundRect">
            <a:avLst>
              <a:gd name="adj" fmla="val 2581"/>
            </a:avLst>
          </a:prstGeom>
          <a:solidFill>
            <a:srgbClr val="1E1B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7402" y="2523744"/>
            <a:ext cx="2856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67402" y="2907792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3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production is needed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667402" y="3291840"/>
            <a:ext cx="28568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Essentials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and production orders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and recipe BOMs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kitchen production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2661" y="2286000"/>
            <a:ext cx="3442106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75269" y="2523744"/>
            <a:ext cx="2856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75269" y="2907792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light, read-mostly users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475269" y="3291840"/>
            <a:ext cx="28568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data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enter time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existing records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outlet managers who consume reports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per user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5321808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F5F2EE"/>
          </a:solidFill>
          <a:ln w="9525">
            <a:solidFill>
              <a:srgbClr val="E2DC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" y="5321808"/>
            <a:ext cx="10436047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proposal: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counts, licence mix, implementation fee and annual support are set out in the separate commercial document. [Insert summary figure or leave for the commercial meeting.]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THIS APPROACH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Business Central, and why Gerab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0032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92224"/>
            <a:ext cx="464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Business Central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94560"/>
            <a:ext cx="464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1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STRENGTHS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60320"/>
            <a:ext cx="464195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ERP for mid-sized business — proven, current, and not going anywhere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stock, purchasing and production in one data model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and multi-company are standard capability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Excel, Outlook, Teams and Power BI integration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Cloud-delivered: no servers, automatic updates, Microsoft SLA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invoicing and a clean audit trail for UAE compliance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skills availability — you are not locked to one consultant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24448" y="1517904"/>
            <a:ext cx="530032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9525">
            <a:solidFill>
              <a:srgbClr val="E2DCD4"/>
            </a:solidFill>
            <a:prstDash val="solid"/>
          </a:ln>
          <a:effectLst>
            <a:outerShdw sx="100000" sy="100000" kx="0" ky="0" algn="bl" rotWithShape="0" blurRad="127000" dist="25400" dir="5400000">
              <a:srgbClr val="1E1B18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53632" y="1792224"/>
            <a:ext cx="464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Gerab System Solutions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53632" y="2194560"/>
            <a:ext cx="464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STRENGTHS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653632" y="2560320"/>
            <a:ext cx="464195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partner delivering Dynamics 365 and the wider Microsoft stack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UAE-based consultants who understand local compliance and local operations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across construction, trading, manufacturing and services groups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capability — POS, aggregators and third-party systems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for licensing, implementation, BI and ongoing support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and SharePoint capability to extend the platform later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desk after go-live, not a handover email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6272784"/>
            <a:ext cx="11057839" cy="0"/>
          </a:xfrm>
          <a:prstGeom prst="line">
            <a:avLst/>
          </a:prstGeom>
          <a:noFill/>
          <a:ln w="9525">
            <a:solidFill>
              <a:srgbClr val="E2DC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6364224"/>
            <a:ext cx="104177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System Solutions  ·  Microsoft Dynamics 365 Business Central for Aramam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984687" y="6364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41F"/>
          </a:solidFill>
          <a:ln w="12700">
            <a:solidFill>
              <a:srgbClr val="6E6157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18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058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3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3502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detail decide it.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57984"/>
            <a:ext cx="8138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7E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signs anything, we would rather walk the floor. Two days with one outlet, the central store and the finance desk will tell us — and you — exactly what this project 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200400"/>
            <a:ext cx="3442106" cy="1773936"/>
          </a:xfrm>
          <a:prstGeom prst="roundRect">
            <a:avLst>
              <a:gd name="adj" fmla="val 4124"/>
            </a:avLst>
          </a:prstGeom>
          <a:solidFill>
            <a:srgbClr val="241F1B">
              <a:alpha val="88000"/>
            </a:srgbClr>
          </a:solidFill>
          <a:ln w="9525">
            <a:solidFill>
              <a:srgbClr val="5A50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3649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785616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walkthrough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114800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 day at one outlet and the central store, half a day with finance. No cost, no obligation.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4794" y="3200400"/>
            <a:ext cx="3442106" cy="1773936"/>
          </a:xfrm>
          <a:prstGeom prst="roundRect">
            <a:avLst>
              <a:gd name="adj" fmla="val 4124"/>
            </a:avLst>
          </a:prstGeom>
          <a:solidFill>
            <a:srgbClr val="241F1B">
              <a:alpha val="88000"/>
            </a:srgbClr>
          </a:solidFill>
          <a:ln w="9525">
            <a:solidFill>
              <a:srgbClr val="5A50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9114" y="33649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9114" y="3785616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proposal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649114" y="4114800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scope, a phased plan and a commercial proposal built on what we saw — not on assumptions.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2661" y="3200400"/>
            <a:ext cx="3442106" cy="1773936"/>
          </a:xfrm>
          <a:prstGeom prst="roundRect">
            <a:avLst>
              <a:gd name="adj" fmla="val 4124"/>
            </a:avLst>
          </a:prstGeom>
          <a:solidFill>
            <a:srgbClr val="241F1B">
              <a:alpha val="88000"/>
            </a:srgbClr>
          </a:solidFill>
          <a:ln w="9525">
            <a:solidFill>
              <a:srgbClr val="5A50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6981" y="33649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A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6981" y="3785616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demo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456981" y="4114800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Central shown with your menu, your outlets and your recipes — not a generic demo dataset.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5285232"/>
            <a:ext cx="11057839" cy="0"/>
          </a:xfrm>
          <a:prstGeom prst="line">
            <a:avLst/>
          </a:prstGeom>
          <a:noFill/>
          <a:ln w="9525">
            <a:solidFill>
              <a:srgbClr val="463E3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54315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buNone/>
            </a:pPr>
            <a:r>
              <a:rPr lang="en-US" sz="1200" dirty="0">
                <a:solidFill>
                  <a:srgbClr val="C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Business Development, Gerab System Solutions   ·   [email]   ·   [mobile]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95967" y="5358384"/>
            <a:ext cx="1828800" cy="603504"/>
          </a:xfrm>
          <a:prstGeom prst="roundRect">
            <a:avLst>
              <a:gd name="adj" fmla="val 9091"/>
            </a:avLst>
          </a:prstGeom>
          <a:solidFill>
            <a:srgbClr val="312A24"/>
          </a:solidFill>
          <a:ln w="12700">
            <a:solidFill>
              <a:srgbClr val="6E6157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9869119" y="5358384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7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GERAB LOGO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504127" y="6272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8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Full-bleed background image placeholder — replace this rectangle's fill with a photo, then delete this note.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Gerab System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Dynamics 365 Business Central for Aramam</dc:title>
  <dc:subject>PptxGenJS Presentation</dc:subject>
  <dc:creator>Gerab System Solutions</dc:creator>
  <cp:lastModifiedBy>Gerab System Solutions</cp:lastModifiedBy>
  <cp:revision>1</cp:revision>
  <dcterms:created xsi:type="dcterms:W3CDTF">2026-09-06T18:08:17Z</dcterms:created>
  <dcterms:modified xsi:type="dcterms:W3CDTF">2026-09-06T18:08:17Z</dcterms:modified>
</cp:coreProperties>
</file>